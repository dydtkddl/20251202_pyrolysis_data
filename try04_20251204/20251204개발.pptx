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50" d="100"/>
          <a:sy n="50" d="100"/>
        </p:scale>
        <p:origin x="438" y="9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260798-6CC5-30EE-801B-88DE81EC0E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E2DCD1E-EBEA-6915-B465-1646CBF30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E095D9-ED1F-F06F-E881-8599CBCAD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6B11A1-38BB-B4D6-1400-29B36969B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E776F3-D29C-3E9F-BCD4-307176E66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88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88A57-B022-4462-5A47-84EDA7F54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D8FC90-6BC0-D045-69CA-DCE8E24DD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CAC4EA-6E99-C447-76CE-A7355040F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1B8097-2CAB-095B-49DC-6D4DE6299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FC1D62-9F16-0682-3334-EEAB987D7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34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17F5AD-95C5-1E60-9429-B9ED3803E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48BC1CE-856E-952C-1F2C-87BD0ABC97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FE16C5-F21E-6156-E9CA-13D95406E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D29893-55F8-0C8D-E9C2-547747040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5C618C-80B8-97E5-B33A-6DD44E34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4143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45D7D5-F31B-74D9-D0EC-DBD5A03D8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0FCBD7-0352-EAEF-F263-BF8C79CD0F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3348C12-E625-790D-4DEE-5A9E4CDD4B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8F6810-105F-148A-58F2-762F0A416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EF2CDE-804F-8223-100E-7F5A48E45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BF6CC4-BA9C-F4F5-62B8-5A7C56648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0534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0B1B43-0826-9C4A-79B6-A1EBD047C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710FEF-E1B2-C68F-D4F9-CB3C7D7C8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EF8883-AB93-E7B2-2899-56D06E75C0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88F8197-F5B5-8F8D-DBA2-9FF632F030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F228D48-1D77-075F-D124-71D7D7A128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799DB35-E9D8-5AA1-EE0E-7B35DEFF2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96E8393-DDF9-4CF1-2C8F-ADE11FA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C6A12CF-141D-8BCE-3321-1B5B0A754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526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7ED3FE-42A8-D358-2BB9-FB18B43EF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B5418D8-13F0-41CF-5512-BAC728D09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AF72E3F-6AC6-AAD4-5554-5375BCC886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2F48A2-3A6B-8D04-5E3D-DA1F3FE4C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76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0E144B8-DB4B-AFE9-E529-AC86DAE81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45DECDE-5E3C-512C-8ADF-6B457D522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6B47E1-AA1F-B631-5003-4920A093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75043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099B75-0C1F-77D5-3D10-2F2A4D3DC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162CBA-900E-16E4-8E31-922255A86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B60080-170B-93B6-F226-8F8FF102F4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2B928D8-B04C-C198-9FCE-1D5CAE2E7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A8D48AA-E78E-6262-B1D1-3A16B54F6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485-1239-B630-F0AD-73F1F2462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527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28981-145A-2FAD-FED4-75A4488D7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985CB7D-D241-CC4E-B694-710BCF628F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DF2D69-0B95-16E7-81EF-DE6D173763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CF636D-BA6F-AC19-D49B-D33F00462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EEB62B-6183-CA7B-0E0A-A4EBF5C5C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30B6AD-A8B8-B328-1BCE-3CFC7C95D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08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DA056C-FCC6-6981-379F-29E2CB368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E5D580A-82E6-1B61-CE55-D6F8B70947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5C4459-74FD-ABFB-EDA5-9880AFF72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B4966E-C4AF-0BB2-31B4-2C0D67F9B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DD9B5A-7535-7CFD-5C17-529ECDFC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3743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421EA3-346B-9597-CCEE-96DE81EF3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68EA9F6-FE40-2C71-639C-E88DEDEFB5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725AE1-8E15-FAEB-5BC1-C998DF9A4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8BF8B5-19C0-9975-25DC-10D383FA5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5573E3-B2B3-0875-A9F7-6B81368F3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236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21213C-20A6-758D-2C1E-DE071223D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1E5D0DD-05A1-E6E7-A595-AA91F6C68F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D3E0FF-DB8A-D5ED-8282-D2276D0EC3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24A877-9E0D-42D3-82BA-45400D2BC432}" type="datetimeFigureOut">
              <a:rPr lang="ko-KR" altLang="en-US" smtClean="0"/>
              <a:t>2025-12-04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5FF8D7-6F14-A856-AD4B-92D403E18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D555DB-196A-1401-ED9B-0C779F0F4B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5BA1D7-2276-4420-B1FE-06C4D78441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6420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2122BA4-1963-A7D5-ED0F-19B4EE2EA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98" y="2709509"/>
            <a:ext cx="10421804" cy="297221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252383D-C698-6950-A754-BDDA600A5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098" y="897889"/>
            <a:ext cx="5830114" cy="156231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465835-BA9E-2A7B-CE1E-EC02BF4BAA18}"/>
              </a:ext>
            </a:extLst>
          </p:cNvPr>
          <p:cNvSpPr/>
          <p:nvPr/>
        </p:nvSpPr>
        <p:spPr>
          <a:xfrm>
            <a:off x="885098" y="896995"/>
            <a:ext cx="5688957" cy="221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C09BB6D-F488-0E41-F6FA-32170DDACA7A}"/>
              </a:ext>
            </a:extLst>
          </p:cNvPr>
          <p:cNvSpPr/>
          <p:nvPr/>
        </p:nvSpPr>
        <p:spPr>
          <a:xfrm>
            <a:off x="885098" y="1457219"/>
            <a:ext cx="5688957" cy="221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A4A39D9-5989-79FE-F657-4CF189678462}"/>
              </a:ext>
            </a:extLst>
          </p:cNvPr>
          <p:cNvSpPr/>
          <p:nvPr/>
        </p:nvSpPr>
        <p:spPr>
          <a:xfrm>
            <a:off x="885098" y="2252785"/>
            <a:ext cx="5688957" cy="221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F22CBC-9A78-22F4-913A-9CF2C744AE42}"/>
              </a:ext>
            </a:extLst>
          </p:cNvPr>
          <p:cNvSpPr txBox="1"/>
          <p:nvPr/>
        </p:nvSpPr>
        <p:spPr>
          <a:xfrm>
            <a:off x="332510" y="138545"/>
            <a:ext cx="8238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i="1" dirty="0">
                <a:latin typeface="+mj-lt"/>
              </a:rPr>
              <a:t>Full Text </a:t>
            </a:r>
            <a:r>
              <a:rPr lang="ko-KR" altLang="en-US" b="1" i="1" dirty="0">
                <a:latin typeface="+mj-lt"/>
              </a:rPr>
              <a:t>논문 </a:t>
            </a:r>
            <a:r>
              <a:rPr lang="ko-KR" altLang="en-US" b="1" i="1" dirty="0" err="1">
                <a:latin typeface="+mj-lt"/>
              </a:rPr>
              <a:t>크롤링</a:t>
            </a:r>
            <a:endParaRPr lang="ko-KR" altLang="en-US" b="1" i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26959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5992A-D609-95EA-479A-FA6137D57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3FF6E2CB-1BC8-DB48-8B07-1218F4EB391B}"/>
              </a:ext>
            </a:extLst>
          </p:cNvPr>
          <p:cNvSpPr txBox="1"/>
          <p:nvPr/>
        </p:nvSpPr>
        <p:spPr>
          <a:xfrm>
            <a:off x="332510" y="138545"/>
            <a:ext cx="8238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i="1" dirty="0">
                <a:latin typeface="+mj-lt"/>
              </a:rPr>
              <a:t>Full Text </a:t>
            </a:r>
            <a:r>
              <a:rPr lang="ko-KR" altLang="en-US" b="1" i="1" dirty="0">
                <a:latin typeface="+mj-lt"/>
              </a:rPr>
              <a:t>논문 </a:t>
            </a:r>
            <a:r>
              <a:rPr lang="ko-KR" altLang="en-US" b="1" i="1" dirty="0" err="1">
                <a:latin typeface="+mj-lt"/>
              </a:rPr>
              <a:t>크롤링</a:t>
            </a:r>
            <a:endParaRPr lang="ko-KR" altLang="en-US" b="1" i="1" dirty="0">
              <a:latin typeface="+mj-lt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022214-84AF-1968-1BB1-FB7B011D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72" y="222930"/>
            <a:ext cx="6594764" cy="327242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2A2F7CA-0BE1-2E7F-3977-ED6B5EAC5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20" y="3742782"/>
            <a:ext cx="3572453" cy="289228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576F63A-B84D-973B-C811-20DB9C32F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6868" y="3742782"/>
            <a:ext cx="3464116" cy="276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635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CB555-3397-41CC-0837-E2BCE6A4A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F066C92-F67C-A114-354E-832F731A1BC8}"/>
              </a:ext>
            </a:extLst>
          </p:cNvPr>
          <p:cNvSpPr txBox="1"/>
          <p:nvPr/>
        </p:nvSpPr>
        <p:spPr>
          <a:xfrm>
            <a:off x="332510" y="138545"/>
            <a:ext cx="8238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i="1" dirty="0">
                <a:latin typeface="+mj-lt"/>
              </a:rPr>
              <a:t>Full Text </a:t>
            </a:r>
            <a:r>
              <a:rPr lang="ko-KR" altLang="en-US" b="1" i="1" dirty="0">
                <a:latin typeface="+mj-lt"/>
              </a:rPr>
              <a:t>논문 </a:t>
            </a:r>
            <a:r>
              <a:rPr lang="ko-KR" altLang="en-US" b="1" i="1" dirty="0" err="1">
                <a:latin typeface="+mj-lt"/>
              </a:rPr>
              <a:t>크롤링</a:t>
            </a:r>
            <a:endParaRPr lang="ko-KR" altLang="en-US" b="1" i="1" dirty="0">
              <a:latin typeface="+mj-lt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101CA5-B603-ED05-4659-5459BD7B4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3388" y="1010652"/>
            <a:ext cx="4485224" cy="543969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4AF213A-0F16-5E8E-007C-D9726F25E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388" y="641432"/>
            <a:ext cx="3191320" cy="36200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455D57C-6714-7218-E77C-83B37812D496}"/>
              </a:ext>
            </a:extLst>
          </p:cNvPr>
          <p:cNvSpPr/>
          <p:nvPr/>
        </p:nvSpPr>
        <p:spPr>
          <a:xfrm>
            <a:off x="3853388" y="1183907"/>
            <a:ext cx="4485224" cy="33784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B59B48A0-7C2B-307B-DB35-2C765EF95A6C}"/>
              </a:ext>
            </a:extLst>
          </p:cNvPr>
          <p:cNvSpPr/>
          <p:nvPr/>
        </p:nvSpPr>
        <p:spPr>
          <a:xfrm>
            <a:off x="8571346" y="2189018"/>
            <a:ext cx="406399" cy="123998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2B53DD-2760-9361-4CD0-8079AA2E555B}"/>
              </a:ext>
            </a:extLst>
          </p:cNvPr>
          <p:cNvSpPr txBox="1"/>
          <p:nvPr/>
        </p:nvSpPr>
        <p:spPr>
          <a:xfrm>
            <a:off x="9088582" y="2624343"/>
            <a:ext cx="13577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유료 </a:t>
            </a:r>
            <a:r>
              <a:rPr lang="en-US" altLang="ko-KR" b="1" dirty="0"/>
              <a:t>PDF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99346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7E55F-E544-70E6-F265-6E4E84E6E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9451FB-AA39-214B-DA8C-F2819E11A81A}"/>
              </a:ext>
            </a:extLst>
          </p:cNvPr>
          <p:cNvGrpSpPr/>
          <p:nvPr/>
        </p:nvGrpSpPr>
        <p:grpSpPr>
          <a:xfrm>
            <a:off x="2672800" y="356140"/>
            <a:ext cx="6473491" cy="6145719"/>
            <a:chOff x="713372" y="356140"/>
            <a:chExt cx="6473491" cy="6145719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BA1311C-BB30-2A7F-12C2-AB69C3688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3372" y="356140"/>
              <a:ext cx="6473491" cy="3195774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912CDA49-FBE0-9693-5CB7-9B839A2692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3372" y="3306085"/>
              <a:ext cx="6473491" cy="3195774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C9F87-EC33-5273-4EC5-A8F696C2F0E1}"/>
                </a:ext>
              </a:extLst>
            </p:cNvPr>
            <p:cNvSpPr txBox="1"/>
            <p:nvPr/>
          </p:nvSpPr>
          <p:spPr>
            <a:xfrm>
              <a:off x="6431282" y="3138490"/>
              <a:ext cx="69151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54</a:t>
              </a:r>
              <a:r>
                <a:rPr lang="ko-KR" altLang="en-US" sz="900" b="1" dirty="0"/>
                <a:t>이상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D6B769A-526A-A5C8-AED1-ADEA65F02538}"/>
                </a:ext>
              </a:extLst>
            </p:cNvPr>
            <p:cNvSpPr txBox="1"/>
            <p:nvPr/>
          </p:nvSpPr>
          <p:spPr>
            <a:xfrm>
              <a:off x="6431282" y="5700715"/>
              <a:ext cx="69151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1000</a:t>
              </a:r>
              <a:r>
                <a:rPr lang="ko-KR" altLang="en-US" sz="900" b="1" dirty="0"/>
                <a:t>이상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54264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319EE-B4A1-7CA6-3199-E7F8354E3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그룹 73">
            <a:extLst>
              <a:ext uri="{FF2B5EF4-FFF2-40B4-BE49-F238E27FC236}">
                <a16:creationId xmlns:a16="http://schemas.microsoft.com/office/drawing/2014/main" id="{A5820C37-5ED8-D7EC-FBF4-11E175DB750A}"/>
              </a:ext>
            </a:extLst>
          </p:cNvPr>
          <p:cNvGrpSpPr/>
          <p:nvPr/>
        </p:nvGrpSpPr>
        <p:grpSpPr>
          <a:xfrm>
            <a:off x="-171450" y="-342900"/>
            <a:ext cx="11982450" cy="12134850"/>
            <a:chOff x="-171450" y="-342900"/>
            <a:chExt cx="11982450" cy="12134850"/>
          </a:xfrm>
        </p:grpSpPr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F6FE4CFA-1A3D-DA8D-2E64-3FCEC0776F95}"/>
                </a:ext>
              </a:extLst>
            </p:cNvPr>
            <p:cNvSpPr/>
            <p:nvPr/>
          </p:nvSpPr>
          <p:spPr>
            <a:xfrm>
              <a:off x="-171450" y="-342900"/>
              <a:ext cx="11982450" cy="1213485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941A3C8-30F7-2C57-C194-FCE1C3BD340A}"/>
                </a:ext>
              </a:extLst>
            </p:cNvPr>
            <p:cNvSpPr txBox="1"/>
            <p:nvPr/>
          </p:nvSpPr>
          <p:spPr>
            <a:xfrm>
              <a:off x="182270" y="6852331"/>
              <a:ext cx="11424934" cy="35394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+mj-ea"/>
                  <a:ea typeface="+mj-ea"/>
                </a:rPr>
                <a:t>9112</a:t>
              </a:r>
              <a:r>
                <a:rPr lang="ko-KR" altLang="en-US" sz="1600" b="1" dirty="0">
                  <a:latin typeface="+mj-ea"/>
                  <a:ea typeface="+mj-ea"/>
                </a:rPr>
                <a:t>개의 논문에서 추출한 캡션 통계 분석</a:t>
              </a:r>
              <a:r>
                <a:rPr lang="en-US" altLang="ko-KR" sz="1600" b="1" dirty="0">
                  <a:latin typeface="+mj-ea"/>
                  <a:ea typeface="+mj-ea"/>
                </a:rPr>
                <a:t>.</a:t>
              </a:r>
            </a:p>
            <a:p>
              <a:pPr marL="342900" indent="-342900">
                <a:buAutoNum type="arabicPeriod"/>
              </a:pPr>
              <a:r>
                <a:rPr lang="ko-KR" altLang="en-US" sz="1600" b="1" dirty="0">
                  <a:latin typeface="+mj-ea"/>
                  <a:ea typeface="+mj-ea"/>
                </a:rPr>
                <a:t>논문당 캡션 개수 히스토그램</a:t>
              </a:r>
              <a:r>
                <a:rPr lang="en-US" altLang="ko-KR" sz="1600" b="1" dirty="0">
                  <a:latin typeface="+mj-ea"/>
                  <a:ea typeface="+mj-ea"/>
                </a:rPr>
                <a:t> </a:t>
              </a: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en-US" altLang="ko-KR" sz="1600" dirty="0">
                  <a:latin typeface="+mj-ea"/>
                </a:rPr>
                <a:t>9112</a:t>
              </a:r>
              <a:r>
                <a:rPr lang="ko-KR" altLang="en-US" sz="1600" dirty="0">
                  <a:latin typeface="+mj-ea"/>
                </a:rPr>
                <a:t>개 논문에서 발췌된 총 캡션 개수 </a:t>
              </a:r>
              <a:r>
                <a:rPr lang="en-US" altLang="ko-KR" sz="1600" dirty="0">
                  <a:latin typeface="+mj-ea"/>
                </a:rPr>
                <a:t>== 13</a:t>
              </a:r>
              <a:r>
                <a:rPr lang="ko-KR" altLang="en-US" sz="1600" dirty="0">
                  <a:latin typeface="+mj-ea"/>
                </a:rPr>
                <a:t>만 </a:t>
              </a:r>
              <a:r>
                <a:rPr lang="en-US" altLang="ko-KR" sz="1600" dirty="0">
                  <a:latin typeface="+mj-ea"/>
                </a:rPr>
                <a:t>7978</a:t>
              </a:r>
              <a:r>
                <a:rPr lang="ko-KR" altLang="en-US" sz="1600" dirty="0">
                  <a:latin typeface="+mj-ea"/>
                </a:rPr>
                <a:t>개</a:t>
              </a:r>
              <a:endParaRPr lang="en-US" altLang="ko-KR" sz="1600" dirty="0">
                <a:latin typeface="+mj-ea"/>
              </a:endParaRP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ko-KR" altLang="en-US" sz="1600" dirty="0">
                  <a:latin typeface="+mj-ea"/>
                  <a:ea typeface="+mj-ea"/>
                </a:rPr>
                <a:t>논문당 캡션 통계</a:t>
              </a:r>
              <a:endParaRPr lang="en-US" altLang="ko-KR" sz="1600" dirty="0">
                <a:latin typeface="+mj-ea"/>
                <a:ea typeface="+mj-ea"/>
              </a:endParaRPr>
            </a:p>
            <a:p>
              <a:pPr marL="1257300" lvl="2" indent="-342900">
                <a:buFont typeface="Arial" panose="020B0604020202020204" pitchFamily="34" charset="0"/>
                <a:buChar char="•"/>
              </a:pPr>
              <a:r>
                <a:rPr lang="ko-KR" altLang="en-US" sz="1600" dirty="0">
                  <a:latin typeface="+mj-ea"/>
                  <a:ea typeface="+mj-ea"/>
                </a:rPr>
                <a:t>평균 </a:t>
              </a:r>
              <a:r>
                <a:rPr lang="en-US" altLang="ko-KR" sz="1600" dirty="0">
                  <a:latin typeface="+mj-ea"/>
                  <a:ea typeface="+mj-ea"/>
                </a:rPr>
                <a:t>: 15.14</a:t>
              </a:r>
              <a:r>
                <a:rPr lang="ko-KR" altLang="en-US" sz="1600" dirty="0">
                  <a:latin typeface="+mj-ea"/>
                  <a:ea typeface="+mj-ea"/>
                </a:rPr>
                <a:t>개</a:t>
              </a:r>
              <a:endParaRPr lang="en-US" altLang="ko-KR" sz="1600" dirty="0">
                <a:latin typeface="+mj-ea"/>
                <a:ea typeface="+mj-ea"/>
              </a:endParaRPr>
            </a:p>
            <a:p>
              <a:pPr marL="1257300" lvl="2" indent="-342900">
                <a:buFont typeface="Arial" panose="020B0604020202020204" pitchFamily="34" charset="0"/>
                <a:buChar char="•"/>
              </a:pPr>
              <a:r>
                <a:rPr lang="ko-KR" altLang="en-US" sz="1600" dirty="0">
                  <a:latin typeface="+mj-ea"/>
                  <a:ea typeface="+mj-ea"/>
                </a:rPr>
                <a:t>중앙값 </a:t>
              </a:r>
              <a:r>
                <a:rPr lang="en-US" altLang="ko-KR" sz="1600" dirty="0">
                  <a:latin typeface="+mj-ea"/>
                  <a:ea typeface="+mj-ea"/>
                </a:rPr>
                <a:t>: 14.71</a:t>
              </a:r>
              <a:r>
                <a:rPr lang="ko-KR" altLang="en-US" sz="1600" dirty="0">
                  <a:latin typeface="+mj-ea"/>
                  <a:ea typeface="+mj-ea"/>
                </a:rPr>
                <a:t>개</a:t>
              </a:r>
              <a:endParaRPr lang="en-US" altLang="ko-KR" sz="1600" dirty="0">
                <a:latin typeface="+mj-ea"/>
                <a:ea typeface="+mj-ea"/>
              </a:endParaRPr>
            </a:p>
            <a:p>
              <a:pPr marL="1257300" lvl="2" indent="-342900">
                <a:buFont typeface="Arial" panose="020B0604020202020204" pitchFamily="34" charset="0"/>
                <a:buChar char="•"/>
              </a:pPr>
              <a:endParaRPr lang="en-US" altLang="ko-KR" sz="1600" b="1" dirty="0">
                <a:latin typeface="+mj-ea"/>
                <a:ea typeface="+mj-ea"/>
              </a:endParaRPr>
            </a:p>
            <a:p>
              <a:pPr marL="1257300" lvl="2" indent="-342900">
                <a:buFont typeface="Arial" panose="020B0604020202020204" pitchFamily="34" charset="0"/>
                <a:buChar char="•"/>
              </a:pPr>
              <a:endParaRPr lang="en-US" altLang="ko-KR" sz="1600" b="1" dirty="0">
                <a:latin typeface="+mj-ea"/>
                <a:ea typeface="+mj-ea"/>
              </a:endParaRPr>
            </a:p>
            <a:p>
              <a:pPr marL="1257300" lvl="2" indent="-342900">
                <a:buFont typeface="Arial" panose="020B0604020202020204" pitchFamily="34" charset="0"/>
                <a:buChar char="•"/>
              </a:pPr>
              <a:endParaRPr lang="en-US" altLang="ko-KR" sz="1600" b="1" dirty="0">
                <a:latin typeface="+mj-ea"/>
                <a:ea typeface="+mj-ea"/>
              </a:endParaRPr>
            </a:p>
            <a:p>
              <a:pPr marL="342900" indent="-342900">
                <a:buAutoNum type="arabicPeriod"/>
              </a:pPr>
              <a:r>
                <a:rPr lang="ko-KR" altLang="en-US" sz="1600" b="1" dirty="0">
                  <a:latin typeface="+mj-ea"/>
                  <a:ea typeface="+mj-ea"/>
                </a:rPr>
                <a:t>캡션 별 문자 개수 히스토그램</a:t>
              </a:r>
              <a:endParaRPr lang="en-US" altLang="ko-KR" sz="1600" b="1" dirty="0">
                <a:latin typeface="+mj-ea"/>
                <a:ea typeface="+mj-ea"/>
              </a:endParaRPr>
            </a:p>
            <a:p>
              <a:pPr marL="800100" lvl="1" indent="-342900">
                <a:buFont typeface="Arial" panose="020B0604020202020204" pitchFamily="34" charset="0"/>
                <a:buChar char="•"/>
              </a:pPr>
              <a:r>
                <a:rPr lang="ko-KR" altLang="en-US" sz="1600" dirty="0">
                  <a:latin typeface="+mj-ea"/>
                  <a:ea typeface="+mj-ea"/>
                </a:rPr>
                <a:t>캡션당 문자 통계</a:t>
              </a:r>
              <a:endParaRPr lang="en-US" altLang="ko-KR" sz="1600" dirty="0">
                <a:latin typeface="+mj-ea"/>
                <a:ea typeface="+mj-ea"/>
              </a:endParaRPr>
            </a:p>
            <a:p>
              <a:pPr marL="1257300" lvl="2" indent="-342900">
                <a:buFont typeface="Arial" panose="020B0604020202020204" pitchFamily="34" charset="0"/>
                <a:buChar char="•"/>
              </a:pPr>
              <a:r>
                <a:rPr lang="ko-KR" altLang="en-US" sz="1600" dirty="0">
                  <a:latin typeface="+mj-ea"/>
                  <a:ea typeface="+mj-ea"/>
                </a:rPr>
                <a:t>평균 문자 수</a:t>
              </a:r>
              <a:r>
                <a:rPr lang="en-US" altLang="ko-KR" sz="1600" dirty="0">
                  <a:latin typeface="+mj-ea"/>
                  <a:ea typeface="+mj-ea"/>
                </a:rPr>
                <a:t>: 171.06</a:t>
              </a:r>
              <a:r>
                <a:rPr lang="ko-KR" altLang="en-US" sz="1600" dirty="0">
                  <a:latin typeface="+mj-ea"/>
                  <a:ea typeface="+mj-ea"/>
                </a:rPr>
                <a:t>문자</a:t>
              </a:r>
              <a:endParaRPr lang="en-US" altLang="ko-KR" sz="1600" dirty="0">
                <a:latin typeface="+mj-ea"/>
                <a:ea typeface="+mj-ea"/>
              </a:endParaRPr>
            </a:p>
            <a:p>
              <a:pPr marL="1257300" lvl="2" indent="-342900">
                <a:buFont typeface="Arial" panose="020B0604020202020204" pitchFamily="34" charset="0"/>
                <a:buChar char="•"/>
              </a:pPr>
              <a:r>
                <a:rPr lang="ko-KR" altLang="en-US" sz="1600" dirty="0">
                  <a:latin typeface="+mj-ea"/>
                  <a:ea typeface="+mj-ea"/>
                </a:rPr>
                <a:t>최대 길이 캡션 </a:t>
              </a:r>
              <a:r>
                <a:rPr lang="en-US" altLang="ko-KR" sz="1600" dirty="0">
                  <a:latin typeface="+mj-ea"/>
                  <a:ea typeface="+mj-ea"/>
                </a:rPr>
                <a:t>: 13632</a:t>
              </a:r>
              <a:r>
                <a:rPr lang="ko-KR" altLang="en-US" sz="1600" dirty="0">
                  <a:latin typeface="+mj-ea"/>
                  <a:ea typeface="+mj-ea"/>
                </a:rPr>
                <a:t>문자</a:t>
              </a:r>
              <a:br>
                <a:rPr lang="en-US" altLang="ko-KR" sz="1600" dirty="0">
                  <a:latin typeface="+mj-ea"/>
                  <a:ea typeface="+mj-ea"/>
                </a:rPr>
              </a:br>
              <a:r>
                <a:rPr lang="en-US" altLang="ko-KR" sz="1600" dirty="0">
                  <a:latin typeface="+mj-ea"/>
                  <a:ea typeface="+mj-ea"/>
                </a:rPr>
                <a:t>(1000</a:t>
              </a:r>
              <a:r>
                <a:rPr lang="ko-KR" altLang="en-US" sz="1600" dirty="0">
                  <a:latin typeface="+mj-ea"/>
                  <a:ea typeface="+mj-ea"/>
                </a:rPr>
                <a:t>자 이상 캡션은 이상치로 제거 요망</a:t>
              </a:r>
              <a:r>
                <a:rPr lang="en-US" altLang="ko-KR" sz="1600" dirty="0">
                  <a:latin typeface="+mj-ea"/>
                  <a:ea typeface="+mj-ea"/>
                </a:rPr>
                <a:t>)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D778141-C117-C8B9-8240-3826A7BAAA33}"/>
                </a:ext>
              </a:extLst>
            </p:cNvPr>
            <p:cNvSpPr txBox="1"/>
            <p:nvPr/>
          </p:nvSpPr>
          <p:spPr>
            <a:xfrm>
              <a:off x="-4652" y="539415"/>
              <a:ext cx="9107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9702</a:t>
              </a:r>
              <a:r>
                <a:rPr lang="ko-KR" altLang="en-US" sz="1600" b="1" dirty="0">
                  <a:latin typeface="+mj-ea"/>
                  <a:ea typeface="+mj-ea"/>
                </a:rPr>
                <a:t>개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403A8F0-BAA9-8571-17B8-F0529DB830AC}"/>
                </a:ext>
              </a:extLst>
            </p:cNvPr>
            <p:cNvSpPr txBox="1"/>
            <p:nvPr/>
          </p:nvSpPr>
          <p:spPr>
            <a:xfrm>
              <a:off x="1182255" y="421090"/>
              <a:ext cx="1952231" cy="58477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Purchase pdf</a:t>
              </a:r>
              <a:r>
                <a:rPr lang="ko-KR" altLang="en-US" sz="1600" b="1" dirty="0">
                  <a:latin typeface="+mj-ea"/>
                  <a:ea typeface="+mj-ea"/>
                </a:rPr>
                <a:t>는</a:t>
              </a:r>
              <a:endParaRPr lang="en-US" altLang="ko-KR" sz="1600" b="1" dirty="0">
                <a:latin typeface="+mj-ea"/>
                <a:ea typeface="+mj-ea"/>
              </a:endParaRPr>
            </a:p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Full Text </a:t>
              </a:r>
              <a:r>
                <a:rPr lang="ko-KR" altLang="en-US" sz="1600" b="1" dirty="0">
                  <a:latin typeface="+mj-ea"/>
                  <a:ea typeface="+mj-ea"/>
                </a:rPr>
                <a:t>불가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42E1457-578D-ABE0-BD1F-980B1EF5A98B}"/>
                </a:ext>
              </a:extLst>
            </p:cNvPr>
            <p:cNvSpPr txBox="1"/>
            <p:nvPr/>
          </p:nvSpPr>
          <p:spPr>
            <a:xfrm>
              <a:off x="1182255" y="968581"/>
              <a:ext cx="19522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rgbClr val="FF0000"/>
                  </a:solidFill>
                  <a:latin typeface="+mj-ea"/>
                  <a:ea typeface="+mj-ea"/>
                </a:rPr>
                <a:t>37</a:t>
              </a:r>
              <a:r>
                <a:rPr lang="ko-KR" altLang="en-US" sz="1600" b="1" dirty="0">
                  <a:solidFill>
                    <a:srgbClr val="FF0000"/>
                  </a:solidFill>
                  <a:latin typeface="+mj-ea"/>
                  <a:ea typeface="+mj-ea"/>
                </a:rPr>
                <a:t>개 제거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734F56-F0A0-4580-6486-707B05F9CE19}"/>
                </a:ext>
              </a:extLst>
            </p:cNvPr>
            <p:cNvSpPr txBox="1"/>
            <p:nvPr/>
          </p:nvSpPr>
          <p:spPr>
            <a:xfrm>
              <a:off x="3400826" y="539415"/>
              <a:ext cx="10018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9665</a:t>
              </a:r>
              <a:r>
                <a:rPr lang="ko-KR" altLang="en-US" sz="1600" b="1" dirty="0">
                  <a:latin typeface="+mj-ea"/>
                  <a:ea typeface="+mj-ea"/>
                </a:rPr>
                <a:t>개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C778C6F-38B9-7E48-F95F-55EEC6848A24}"/>
                </a:ext>
              </a:extLst>
            </p:cNvPr>
            <p:cNvSpPr txBox="1"/>
            <p:nvPr/>
          </p:nvSpPr>
          <p:spPr>
            <a:xfrm>
              <a:off x="4668970" y="421090"/>
              <a:ext cx="1952231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Raw Text</a:t>
              </a:r>
            </a:p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Tag </a:t>
              </a:r>
              <a:r>
                <a:rPr lang="ko-KR" altLang="en-US" sz="1600" b="1" dirty="0">
                  <a:latin typeface="+mj-ea"/>
                  <a:ea typeface="+mj-ea"/>
                </a:rPr>
                <a:t>식별 및 제거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3FC9CAC-5230-DC36-A24E-E5CDFE43C343}"/>
                </a:ext>
              </a:extLst>
            </p:cNvPr>
            <p:cNvSpPr txBox="1"/>
            <p:nvPr/>
          </p:nvSpPr>
          <p:spPr>
            <a:xfrm>
              <a:off x="6144389" y="1121197"/>
              <a:ext cx="1952231" cy="33855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</a:rPr>
                <a:t>Raw Text? </a:t>
              </a:r>
              <a:r>
                <a:rPr lang="en-US" altLang="ko-KR" sz="1600" b="1" dirty="0">
                  <a:latin typeface="+mj-ea"/>
                  <a:ea typeface="+mj-ea"/>
                </a:rPr>
                <a:t>Yes</a:t>
              </a:r>
              <a:endParaRPr lang="ko-KR" altLang="en-US" sz="1600" b="1" dirty="0">
                <a:latin typeface="+mj-ea"/>
                <a:ea typeface="+mj-ea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3BEF14-E61A-864F-78AC-A55512B74C13}"/>
                </a:ext>
              </a:extLst>
            </p:cNvPr>
            <p:cNvSpPr txBox="1"/>
            <p:nvPr/>
          </p:nvSpPr>
          <p:spPr>
            <a:xfrm>
              <a:off x="6144389" y="2104810"/>
              <a:ext cx="1952231" cy="33855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Raw Text? No</a:t>
              </a:r>
              <a:endParaRPr lang="ko-KR" altLang="en-US" sz="1600" b="1" dirty="0">
                <a:latin typeface="+mj-ea"/>
                <a:ea typeface="+mj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921C36A-DCBA-A7BB-FDC4-C8552B78CD09}"/>
                </a:ext>
              </a:extLst>
            </p:cNvPr>
            <p:cNvSpPr txBox="1"/>
            <p:nvPr/>
          </p:nvSpPr>
          <p:spPr>
            <a:xfrm>
              <a:off x="6144389" y="1426431"/>
              <a:ext cx="19522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rgbClr val="FF0000"/>
                  </a:solidFill>
                  <a:latin typeface="+mj-ea"/>
                  <a:ea typeface="+mj-ea"/>
                </a:rPr>
                <a:t>542</a:t>
              </a:r>
              <a:r>
                <a:rPr lang="ko-KR" altLang="en-US" sz="1600" b="1" dirty="0">
                  <a:solidFill>
                    <a:srgbClr val="FF0000"/>
                  </a:solidFill>
                  <a:latin typeface="+mj-ea"/>
                  <a:ea typeface="+mj-ea"/>
                </a:rPr>
                <a:t>개 제거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74CEE0F-F83D-F673-A017-595650A4A36A}"/>
                </a:ext>
              </a:extLst>
            </p:cNvPr>
            <p:cNvSpPr txBox="1"/>
            <p:nvPr/>
          </p:nvSpPr>
          <p:spPr>
            <a:xfrm>
              <a:off x="6144389" y="2410043"/>
              <a:ext cx="19522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9123</a:t>
              </a:r>
              <a:r>
                <a:rPr lang="ko-KR" altLang="en-US" sz="1600" b="1" dirty="0">
                  <a:latin typeface="+mj-ea"/>
                  <a:ea typeface="+mj-ea"/>
                </a:rPr>
                <a:t>개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EC603CB-0F56-71F0-1217-CE10FB58737B}"/>
                </a:ext>
              </a:extLst>
            </p:cNvPr>
            <p:cNvSpPr txBox="1"/>
            <p:nvPr/>
          </p:nvSpPr>
          <p:spPr>
            <a:xfrm>
              <a:off x="8241318" y="2978552"/>
              <a:ext cx="1952231" cy="33855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Caption </a:t>
              </a:r>
              <a:r>
                <a:rPr lang="ko-KR" altLang="en-US" sz="1600" b="1" dirty="0">
                  <a:latin typeface="+mj-ea"/>
                  <a:ea typeface="+mj-ea"/>
                </a:rPr>
                <a:t>없음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16DD99-86CE-4889-47A1-564DBC4AC47F}"/>
                </a:ext>
              </a:extLst>
            </p:cNvPr>
            <p:cNvSpPr txBox="1"/>
            <p:nvPr/>
          </p:nvSpPr>
          <p:spPr>
            <a:xfrm>
              <a:off x="8241318" y="3782663"/>
              <a:ext cx="1952231" cy="338554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Caption </a:t>
              </a:r>
              <a:r>
                <a:rPr lang="ko-KR" altLang="en-US" sz="1600" b="1" dirty="0">
                  <a:latin typeface="+mj-ea"/>
                  <a:ea typeface="+mj-ea"/>
                </a:rPr>
                <a:t>있음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E7D01A2-96F9-38BA-9ED7-A49EA2317FC7}"/>
                </a:ext>
              </a:extLst>
            </p:cNvPr>
            <p:cNvSpPr txBox="1"/>
            <p:nvPr/>
          </p:nvSpPr>
          <p:spPr>
            <a:xfrm>
              <a:off x="8241317" y="3307262"/>
              <a:ext cx="19522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solidFill>
                    <a:srgbClr val="FF0000"/>
                  </a:solidFill>
                  <a:latin typeface="+mj-ea"/>
                  <a:ea typeface="+mj-ea"/>
                </a:rPr>
                <a:t>11</a:t>
              </a:r>
              <a:r>
                <a:rPr lang="ko-KR" altLang="en-US" sz="1600" b="1" dirty="0">
                  <a:solidFill>
                    <a:srgbClr val="FF0000"/>
                  </a:solidFill>
                  <a:latin typeface="+mj-ea"/>
                  <a:ea typeface="+mj-ea"/>
                </a:rPr>
                <a:t>개 제거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7C9E5AD-E196-C21E-E31E-D58EA6960C7A}"/>
                </a:ext>
              </a:extLst>
            </p:cNvPr>
            <p:cNvSpPr txBox="1"/>
            <p:nvPr/>
          </p:nvSpPr>
          <p:spPr>
            <a:xfrm>
              <a:off x="8241317" y="4121217"/>
              <a:ext cx="19522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b="1" dirty="0">
                  <a:latin typeface="+mj-ea"/>
                  <a:ea typeface="+mj-ea"/>
                </a:rPr>
                <a:t>9112</a:t>
              </a:r>
              <a:r>
                <a:rPr lang="ko-KR" altLang="en-US" sz="1600" b="1" dirty="0">
                  <a:latin typeface="+mj-ea"/>
                  <a:ea typeface="+mj-ea"/>
                </a:rPr>
                <a:t>개</a:t>
              </a: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120DBA99-84BB-C9A7-1726-63D98893C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95999" y="9264580"/>
              <a:ext cx="4810583" cy="2374845"/>
            </a:xfrm>
            <a:prstGeom prst="rect">
              <a:avLst/>
            </a:prstGeom>
          </p:spPr>
        </p:pic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8345E5C-AE86-50B0-6354-71B2C21E38C0}"/>
                </a:ext>
              </a:extLst>
            </p:cNvPr>
            <p:cNvGrpSpPr/>
            <p:nvPr/>
          </p:nvGrpSpPr>
          <p:grpSpPr>
            <a:xfrm>
              <a:off x="6144389" y="6871033"/>
              <a:ext cx="4810583" cy="2374845"/>
              <a:chOff x="368334" y="2494509"/>
              <a:chExt cx="2991922" cy="1477025"/>
            </a:xfrm>
          </p:grpSpPr>
          <p:pic>
            <p:nvPicPr>
              <p:cNvPr id="31" name="그림 30">
                <a:extLst>
                  <a:ext uri="{FF2B5EF4-FFF2-40B4-BE49-F238E27FC236}">
                    <a16:creationId xmlns:a16="http://schemas.microsoft.com/office/drawing/2014/main" id="{87826E2C-A345-7513-891F-4D7B448F5F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8334" y="2494509"/>
                <a:ext cx="2991922" cy="1477025"/>
              </a:xfrm>
              <a:prstGeom prst="rect">
                <a:avLst/>
              </a:prstGeom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A7539A9-428C-8C20-95FB-8922D50B4193}"/>
                  </a:ext>
                </a:extLst>
              </p:cNvPr>
              <p:cNvSpPr txBox="1"/>
              <p:nvPr/>
            </p:nvSpPr>
            <p:spPr>
              <a:xfrm>
                <a:off x="3011041" y="3780457"/>
                <a:ext cx="319605" cy="1384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300" b="1" dirty="0"/>
                  <a:t>54</a:t>
                </a:r>
                <a:r>
                  <a:rPr lang="ko-KR" altLang="en-US" sz="300" b="1" dirty="0"/>
                  <a:t>이상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557DB3-1B85-6E80-2569-10CFE49A3B4D}"/>
                </a:ext>
              </a:extLst>
            </p:cNvPr>
            <p:cNvSpPr txBox="1"/>
            <p:nvPr/>
          </p:nvSpPr>
          <p:spPr>
            <a:xfrm>
              <a:off x="1146746" y="10307217"/>
              <a:ext cx="319605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00" b="1" dirty="0"/>
                <a:t>1000</a:t>
              </a:r>
              <a:r>
                <a:rPr lang="ko-KR" altLang="en-US" sz="300" b="1" dirty="0"/>
                <a:t>이상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F29FA5B-1582-EB75-D6A6-019F992C8140}"/>
                </a:ext>
              </a:extLst>
            </p:cNvPr>
            <p:cNvSpPr txBox="1"/>
            <p:nvPr/>
          </p:nvSpPr>
          <p:spPr>
            <a:xfrm>
              <a:off x="182270" y="4944195"/>
              <a:ext cx="11424934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+mj-ea"/>
                  <a:ea typeface="+mj-ea"/>
                </a:rPr>
                <a:t>Raw Text Tag </a:t>
              </a:r>
              <a:r>
                <a:rPr lang="ko-KR" altLang="en-US" sz="1600" b="1" dirty="0">
                  <a:latin typeface="+mj-ea"/>
                  <a:ea typeface="+mj-ea"/>
                </a:rPr>
                <a:t>제거 이유</a:t>
              </a:r>
              <a:endParaRPr lang="en-US" altLang="ko-KR" sz="1600" b="1" dirty="0">
                <a:latin typeface="+mj-ea"/>
                <a:ea typeface="+mj-ea"/>
              </a:endParaRP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대다수의 논문이 </a:t>
              </a:r>
              <a:r>
                <a:rPr lang="en-US" altLang="ko-KR" sz="1600" dirty="0">
                  <a:latin typeface="+mj-ea"/>
                  <a:ea typeface="+mj-ea"/>
                </a:rPr>
                <a:t>XML </a:t>
              </a:r>
              <a:r>
                <a:rPr lang="ko-KR" altLang="en-US" sz="1600" dirty="0">
                  <a:latin typeface="+mj-ea"/>
                  <a:ea typeface="+mj-ea"/>
                </a:rPr>
                <a:t>기반의 구조화가 잘 이루어져 있어 </a:t>
              </a:r>
              <a:r>
                <a:rPr lang="en-US" altLang="ko-KR" sz="1600" dirty="0">
                  <a:latin typeface="+mj-ea"/>
                  <a:ea typeface="+mj-ea"/>
                </a:rPr>
                <a:t>Figure </a:t>
              </a:r>
              <a:r>
                <a:rPr lang="ko-KR" altLang="en-US" sz="1600" dirty="0">
                  <a:latin typeface="+mj-ea"/>
                  <a:ea typeface="+mj-ea"/>
                </a:rPr>
                <a:t>및 </a:t>
              </a:r>
              <a:r>
                <a:rPr lang="en-US" altLang="ko-KR" sz="1600" dirty="0">
                  <a:latin typeface="+mj-ea"/>
                  <a:ea typeface="+mj-ea"/>
                </a:rPr>
                <a:t>Table</a:t>
              </a:r>
              <a:r>
                <a:rPr lang="ko-KR" altLang="en-US" sz="1600" dirty="0">
                  <a:latin typeface="+mj-ea"/>
                  <a:ea typeface="+mj-ea"/>
                </a:rPr>
                <a:t>과 같은 캡션 요소를 명시적으로 식별할 수 있는 반면</a:t>
              </a:r>
              <a:r>
                <a:rPr lang="en-US" altLang="ko-KR" sz="1600" dirty="0">
                  <a:latin typeface="+mj-ea"/>
                  <a:ea typeface="+mj-ea"/>
                </a:rPr>
                <a:t>, </a:t>
              </a:r>
              <a:br>
                <a:rPr lang="en-US" altLang="ko-KR" sz="1600" dirty="0">
                  <a:latin typeface="+mj-ea"/>
                  <a:ea typeface="+mj-ea"/>
                </a:rPr>
              </a:br>
              <a:r>
                <a:rPr lang="ko-KR" altLang="en-US" sz="1600" dirty="0">
                  <a:latin typeface="+mj-ea"/>
                  <a:ea typeface="+mj-ea"/>
                </a:rPr>
                <a:t>일부 문서는 구조적 구분 없이 전체 본문이 단순 텍스트 형태로 제공</a:t>
              </a:r>
              <a:r>
                <a:rPr lang="en-US" altLang="ko-KR" sz="1600" dirty="0">
                  <a:latin typeface="+mj-ea"/>
                  <a:ea typeface="+mj-ea"/>
                </a:rPr>
                <a:t>.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이러한 문서는 원문이 적절한 태그나 메타데이터 없이 공백이나 </a:t>
              </a:r>
              <a:r>
                <a:rPr lang="ko-KR" altLang="en-US" sz="1600" dirty="0" err="1">
                  <a:latin typeface="+mj-ea"/>
                  <a:ea typeface="+mj-ea"/>
                </a:rPr>
                <a:t>줄바꿈만으로</a:t>
              </a:r>
              <a:r>
                <a:rPr lang="ko-KR" altLang="en-US" sz="1600" dirty="0">
                  <a:latin typeface="+mj-ea"/>
                  <a:ea typeface="+mj-ea"/>
                </a:rPr>
                <a:t> 구분되어 있으며</a:t>
              </a:r>
              <a:r>
                <a:rPr lang="en-US" altLang="ko-KR" sz="1600" dirty="0">
                  <a:latin typeface="+mj-ea"/>
                  <a:ea typeface="+mj-ea"/>
                </a:rPr>
                <a:t>, </a:t>
              </a:r>
              <a:r>
                <a:rPr lang="ko-KR" altLang="en-US" sz="1600" dirty="0">
                  <a:latin typeface="+mj-ea"/>
                  <a:ea typeface="+mj-ea"/>
                </a:rPr>
                <a:t>특히 오래된 문헌에서 자주 관찰됨</a:t>
              </a:r>
              <a:r>
                <a:rPr lang="en-US" altLang="ko-KR" sz="1600" dirty="0">
                  <a:latin typeface="+mj-ea"/>
                  <a:ea typeface="+mj-ea"/>
                </a:rPr>
                <a:t>. 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이러한 경우 캡션을 식별하기 위해서는 규칙 기반 패턴 탐지나 추가적인 정규화 절차가 필요하며</a:t>
              </a:r>
              <a:r>
                <a:rPr lang="en-US" altLang="ko-KR" sz="1600" dirty="0">
                  <a:latin typeface="+mj-ea"/>
                  <a:ea typeface="+mj-ea"/>
                </a:rPr>
                <a:t>, </a:t>
              </a:r>
              <a:r>
                <a:rPr lang="ko-KR" altLang="en-US" sz="1600" dirty="0">
                  <a:latin typeface="+mj-ea"/>
                  <a:ea typeface="+mj-ea"/>
                </a:rPr>
                <a:t>이는 시간과 비용 측면에서 비효율적</a:t>
              </a:r>
              <a:r>
                <a:rPr lang="en-US" altLang="ko-KR" sz="1600" dirty="0">
                  <a:latin typeface="+mj-ea"/>
                  <a:ea typeface="+mj-ea"/>
                </a:rPr>
                <a:t>. 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최근 발행된 논문에서는 이러한 문제가 거의 나타나지 않으며</a:t>
              </a:r>
              <a:r>
                <a:rPr lang="en-US" altLang="ko-KR" sz="1600" dirty="0">
                  <a:latin typeface="+mj-ea"/>
                  <a:ea typeface="+mj-ea"/>
                </a:rPr>
                <a:t>, </a:t>
              </a:r>
              <a:r>
                <a:rPr lang="ko-KR" altLang="en-US" sz="1600" dirty="0">
                  <a:latin typeface="+mj-ea"/>
                  <a:ea typeface="+mj-ea"/>
                </a:rPr>
                <a:t>과거 문서가 스캔본을 처리한 결과물이라는 점이 주요 원인으로 판단</a:t>
              </a:r>
              <a:r>
                <a:rPr lang="en-US" altLang="ko-KR" sz="1600" dirty="0">
                  <a:latin typeface="+mj-ea"/>
                  <a:ea typeface="+mj-ea"/>
                </a:rPr>
                <a:t>. 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따라서 구조적 정보가 결여된 문서를 제외함으로써 캡션 추출 과정의 정확성과 처리 효율을 확보하고자 함</a:t>
              </a:r>
              <a:r>
                <a:rPr lang="en-US" altLang="ko-KR" sz="1600" dirty="0">
                  <a:latin typeface="+mj-ea"/>
                  <a:ea typeface="+mj-ea"/>
                </a:rPr>
                <a:t>.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39" name="화살표: 오른쪽 38">
              <a:extLst>
                <a:ext uri="{FF2B5EF4-FFF2-40B4-BE49-F238E27FC236}">
                  <a16:creationId xmlns:a16="http://schemas.microsoft.com/office/drawing/2014/main" id="{F5FB968B-9DE8-69DA-A128-9EE3E5444706}"/>
                </a:ext>
              </a:extLst>
            </p:cNvPr>
            <p:cNvSpPr/>
            <p:nvPr/>
          </p:nvSpPr>
          <p:spPr>
            <a:xfrm>
              <a:off x="906079" y="621826"/>
              <a:ext cx="191655" cy="17373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화살표: 오른쪽 39">
              <a:extLst>
                <a:ext uri="{FF2B5EF4-FFF2-40B4-BE49-F238E27FC236}">
                  <a16:creationId xmlns:a16="http://schemas.microsoft.com/office/drawing/2014/main" id="{90C30180-0E24-A2A9-C572-16EB09748B7B}"/>
                </a:ext>
              </a:extLst>
            </p:cNvPr>
            <p:cNvSpPr/>
            <p:nvPr/>
          </p:nvSpPr>
          <p:spPr>
            <a:xfrm>
              <a:off x="3262511" y="621826"/>
              <a:ext cx="191655" cy="17373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B0583F2C-7371-DB28-E135-D5DA4F654589}"/>
                </a:ext>
              </a:extLst>
            </p:cNvPr>
            <p:cNvSpPr/>
            <p:nvPr/>
          </p:nvSpPr>
          <p:spPr>
            <a:xfrm>
              <a:off x="4347700" y="621826"/>
              <a:ext cx="191655" cy="173732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3" name="연결선: 꺾임 42">
              <a:extLst>
                <a:ext uri="{FF2B5EF4-FFF2-40B4-BE49-F238E27FC236}">
                  <a16:creationId xmlns:a16="http://schemas.microsoft.com/office/drawing/2014/main" id="{C6C5276D-7B9B-222F-257C-5774DDBDAA09}"/>
                </a:ext>
              </a:extLst>
            </p:cNvPr>
            <p:cNvCxnSpPr>
              <a:stCxn id="8" idx="2"/>
              <a:endCxn id="11" idx="1"/>
            </p:cNvCxnSpPr>
            <p:nvPr/>
          </p:nvCxnSpPr>
          <p:spPr>
            <a:xfrm rot="16200000" flipH="1">
              <a:off x="5752433" y="898517"/>
              <a:ext cx="284609" cy="499303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연결선: 꺾임 43">
              <a:extLst>
                <a:ext uri="{FF2B5EF4-FFF2-40B4-BE49-F238E27FC236}">
                  <a16:creationId xmlns:a16="http://schemas.microsoft.com/office/drawing/2014/main" id="{41A584A7-8C75-234D-82C6-17CE3D596EEA}"/>
                </a:ext>
              </a:extLst>
            </p:cNvPr>
            <p:cNvCxnSpPr>
              <a:cxnSpLocks/>
              <a:stCxn id="8" idx="2"/>
              <a:endCxn id="12" idx="1"/>
            </p:cNvCxnSpPr>
            <p:nvPr/>
          </p:nvCxnSpPr>
          <p:spPr>
            <a:xfrm rot="16200000" flipH="1">
              <a:off x="5260626" y="1390324"/>
              <a:ext cx="1268222" cy="499303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연결선: 꺾임 46">
              <a:extLst>
                <a:ext uri="{FF2B5EF4-FFF2-40B4-BE49-F238E27FC236}">
                  <a16:creationId xmlns:a16="http://schemas.microsoft.com/office/drawing/2014/main" id="{E421D150-AD7C-26A3-1D03-F73A78F89A92}"/>
                </a:ext>
              </a:extLst>
            </p:cNvPr>
            <p:cNvCxnSpPr>
              <a:cxnSpLocks/>
              <a:stCxn id="17" idx="2"/>
              <a:endCxn id="20" idx="1"/>
            </p:cNvCxnSpPr>
            <p:nvPr/>
          </p:nvCxnSpPr>
          <p:spPr>
            <a:xfrm rot="16200000" flipH="1">
              <a:off x="7481295" y="2387806"/>
              <a:ext cx="399232" cy="1120813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연결선: 꺾임 49">
              <a:extLst>
                <a:ext uri="{FF2B5EF4-FFF2-40B4-BE49-F238E27FC236}">
                  <a16:creationId xmlns:a16="http://schemas.microsoft.com/office/drawing/2014/main" id="{51E918BC-88AA-1494-FD49-9ED53AC9D93D}"/>
                </a:ext>
              </a:extLst>
            </p:cNvPr>
            <p:cNvCxnSpPr>
              <a:cxnSpLocks/>
              <a:stCxn id="17" idx="2"/>
              <a:endCxn id="21" idx="1"/>
            </p:cNvCxnSpPr>
            <p:nvPr/>
          </p:nvCxnSpPr>
          <p:spPr>
            <a:xfrm rot="16200000" flipH="1">
              <a:off x="7079240" y="2789861"/>
              <a:ext cx="1203343" cy="1120813"/>
            </a:xfrm>
            <a:prstGeom prst="bentConnector2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47CA274-C47F-278A-B9F5-71B67852F7A5}"/>
                </a:ext>
              </a:extLst>
            </p:cNvPr>
            <p:cNvSpPr txBox="1"/>
            <p:nvPr/>
          </p:nvSpPr>
          <p:spPr>
            <a:xfrm>
              <a:off x="182270" y="1370934"/>
              <a:ext cx="4889226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+mj-ea"/>
                  <a:ea typeface="+mj-ea"/>
                </a:rPr>
                <a:t>Purchase pdf </a:t>
              </a:r>
              <a:r>
                <a:rPr lang="ko-KR" altLang="en-US" sz="1600" b="1" dirty="0">
                  <a:latin typeface="+mj-ea"/>
                  <a:ea typeface="+mj-ea"/>
                </a:rPr>
                <a:t>제거 이유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약 </a:t>
              </a:r>
              <a:r>
                <a:rPr lang="en-US" altLang="ko-KR" sz="1600" dirty="0">
                  <a:latin typeface="+mj-ea"/>
                  <a:ea typeface="+mj-ea"/>
                </a:rPr>
                <a:t>37</a:t>
              </a:r>
              <a:r>
                <a:rPr lang="ko-KR" altLang="en-US" sz="1600" dirty="0">
                  <a:latin typeface="+mj-ea"/>
                  <a:ea typeface="+mj-ea"/>
                </a:rPr>
                <a:t>개의 논문들이 학교 라이선스가 있어도 직접 </a:t>
              </a:r>
              <a:r>
                <a:rPr lang="ko-KR" altLang="en-US" sz="1600" dirty="0" err="1">
                  <a:latin typeface="+mj-ea"/>
                  <a:ea typeface="+mj-ea"/>
                </a:rPr>
                <a:t>구매해야하는</a:t>
              </a:r>
              <a:r>
                <a:rPr lang="ko-KR" altLang="en-US" sz="1600" dirty="0">
                  <a:latin typeface="+mj-ea"/>
                  <a:ea typeface="+mj-ea"/>
                </a:rPr>
                <a:t> 특별한 논문들이었음</a:t>
              </a:r>
              <a:r>
                <a:rPr lang="en-US" altLang="ko-KR" sz="1600" dirty="0">
                  <a:latin typeface="+mj-ea"/>
                  <a:ea typeface="+mj-ea"/>
                </a:rPr>
                <a:t>. 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이러한 논문들이 초록과 타이틀만 </a:t>
              </a:r>
              <a:r>
                <a:rPr lang="ko-KR" altLang="en-US" sz="1600" dirty="0" err="1">
                  <a:latin typeface="+mj-ea"/>
                  <a:ea typeface="+mj-ea"/>
                </a:rPr>
                <a:t>수집할때는</a:t>
              </a:r>
              <a:r>
                <a:rPr lang="ko-KR" altLang="en-US" sz="1600" dirty="0">
                  <a:latin typeface="+mj-ea"/>
                  <a:ea typeface="+mj-ea"/>
                </a:rPr>
                <a:t> 문제가 되지 않았으나</a:t>
              </a:r>
              <a:r>
                <a:rPr lang="en-US" altLang="ko-KR" sz="1600" dirty="0">
                  <a:latin typeface="+mj-ea"/>
                  <a:ea typeface="+mj-ea"/>
                </a:rPr>
                <a:t>, Full Text</a:t>
              </a:r>
              <a:r>
                <a:rPr lang="ko-KR" altLang="en-US" sz="1600" dirty="0">
                  <a:latin typeface="+mj-ea"/>
                  <a:ea typeface="+mj-ea"/>
                </a:rPr>
                <a:t>를 수집하는 이번 과정에서 식별되고 </a:t>
              </a:r>
              <a:r>
                <a:rPr lang="ko-KR" altLang="en-US" sz="1600" dirty="0" err="1">
                  <a:latin typeface="+mj-ea"/>
                  <a:ea typeface="+mj-ea"/>
                </a:rPr>
                <a:t>걸러짐</a:t>
              </a:r>
              <a:r>
                <a:rPr lang="en-US" altLang="ko-KR" sz="1600" dirty="0">
                  <a:latin typeface="+mj-ea"/>
                  <a:ea typeface="+mj-ea"/>
                </a:rPr>
                <a:t>.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E6BD144-6E64-1BD0-9F34-026CA4C7C066}"/>
                </a:ext>
              </a:extLst>
            </p:cNvPr>
            <p:cNvSpPr txBox="1"/>
            <p:nvPr/>
          </p:nvSpPr>
          <p:spPr>
            <a:xfrm>
              <a:off x="182269" y="3042487"/>
              <a:ext cx="6645391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latin typeface="+mj-ea"/>
                  <a:ea typeface="+mj-ea"/>
                </a:rPr>
                <a:t>caption </a:t>
              </a:r>
              <a:r>
                <a:rPr lang="ko-KR" altLang="en-US" sz="1600" b="1" dirty="0">
                  <a:latin typeface="+mj-ea"/>
                  <a:ea typeface="+mj-ea"/>
                </a:rPr>
                <a:t>없는 논문</a:t>
              </a:r>
              <a:r>
                <a:rPr lang="en-US" altLang="ko-KR" sz="1600" b="1" dirty="0">
                  <a:latin typeface="+mj-ea"/>
                  <a:ea typeface="+mj-ea"/>
                </a:rPr>
                <a:t> </a:t>
              </a:r>
              <a:r>
                <a:rPr lang="ko-KR" altLang="en-US" sz="1600" b="1" dirty="0">
                  <a:latin typeface="+mj-ea"/>
                  <a:ea typeface="+mj-ea"/>
                </a:rPr>
                <a:t>제거 이유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간혹 캡션이 전혀 존재하지 않는 논문이 존재</a:t>
              </a:r>
              <a:r>
                <a:rPr lang="en-US" altLang="ko-KR" sz="1600" dirty="0">
                  <a:latin typeface="+mj-ea"/>
                  <a:ea typeface="+mj-ea"/>
                </a:rPr>
                <a:t>. 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실제 문서를 확인한 결과</a:t>
              </a:r>
              <a:r>
                <a:rPr lang="en-US" altLang="ko-KR" sz="1600" dirty="0">
                  <a:latin typeface="+mj-ea"/>
                  <a:ea typeface="+mj-ea"/>
                </a:rPr>
                <a:t>, </a:t>
              </a:r>
              <a:r>
                <a:rPr lang="ko-KR" altLang="en-US" sz="1600" dirty="0">
                  <a:latin typeface="+mj-ea"/>
                  <a:ea typeface="+mj-ea"/>
                </a:rPr>
                <a:t>이들 논문은 </a:t>
              </a:r>
              <a:r>
                <a:rPr lang="en-US" altLang="ko-KR" sz="1600" dirty="0">
                  <a:latin typeface="+mj-ea"/>
                  <a:ea typeface="+mj-ea"/>
                </a:rPr>
                <a:t>Figure</a:t>
              </a:r>
              <a:r>
                <a:rPr lang="ko-KR" altLang="en-US" sz="1600" dirty="0">
                  <a:latin typeface="+mj-ea"/>
                  <a:ea typeface="+mj-ea"/>
                </a:rPr>
                <a:t>나 </a:t>
              </a:r>
              <a:r>
                <a:rPr lang="en-US" altLang="ko-KR" sz="1600" dirty="0">
                  <a:latin typeface="+mj-ea"/>
                  <a:ea typeface="+mj-ea"/>
                </a:rPr>
                <a:t>Table</a:t>
              </a:r>
              <a:r>
                <a:rPr lang="ko-KR" altLang="en-US" sz="1600" dirty="0">
                  <a:latin typeface="+mj-ea"/>
                  <a:ea typeface="+mj-ea"/>
                </a:rPr>
                <a:t>과 같은 시각적 요소가 포함되지 않고 텍스트만으로 구성되어 있었음</a:t>
              </a:r>
              <a:r>
                <a:rPr lang="en-US" altLang="ko-KR" sz="1600" dirty="0">
                  <a:latin typeface="+mj-ea"/>
                  <a:ea typeface="+mj-ea"/>
                </a:rPr>
                <a:t>.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이러한 문헌에서는 캡션 기반의 정보 추출이 불가능할 뿐만 아니라</a:t>
              </a:r>
              <a:r>
                <a:rPr lang="en-US" altLang="ko-KR" sz="1600" dirty="0">
                  <a:latin typeface="+mj-ea"/>
                  <a:ea typeface="+mj-ea"/>
                </a:rPr>
                <a:t>, </a:t>
              </a:r>
              <a:r>
                <a:rPr lang="ko-KR" altLang="en-US" sz="1600" dirty="0">
                  <a:latin typeface="+mj-ea"/>
                  <a:ea typeface="+mj-ea"/>
                </a:rPr>
                <a:t>유의미한 정량적 또는 구조적 정보를 확보하기 어려울 것으로 판단</a:t>
              </a:r>
              <a:r>
                <a:rPr lang="en-US" altLang="ko-KR" sz="1600" dirty="0">
                  <a:latin typeface="+mj-ea"/>
                  <a:ea typeface="+mj-ea"/>
                </a:rPr>
                <a:t>. </a:t>
              </a:r>
            </a:p>
            <a:p>
              <a:pPr marL="171450" indent="-171450">
                <a:buFont typeface="Wingdings" panose="05000000000000000000" pitchFamily="2" charset="2"/>
                <a:buChar char="§"/>
              </a:pPr>
              <a:r>
                <a:rPr lang="ko-KR" altLang="en-US" sz="1600" dirty="0">
                  <a:latin typeface="+mj-ea"/>
                  <a:ea typeface="+mj-ea"/>
                </a:rPr>
                <a:t>분석 단계에서 조기에 제외</a:t>
              </a:r>
              <a:r>
                <a:rPr lang="en-US" altLang="ko-KR" sz="1600" dirty="0">
                  <a:latin typeface="+mj-ea"/>
                  <a:ea typeface="+mj-ea"/>
                </a:rPr>
                <a:t>.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A0E810FA-C430-A8F4-056D-5D8988CD2251}"/>
                </a:ext>
              </a:extLst>
            </p:cNvPr>
            <p:cNvSpPr/>
            <p:nvPr/>
          </p:nvSpPr>
          <p:spPr>
            <a:xfrm>
              <a:off x="1473236" y="1056007"/>
              <a:ext cx="167368" cy="167368"/>
            </a:xfrm>
            <a:prstGeom prst="ellipse">
              <a:avLst/>
            </a:prstGeom>
            <a:solidFill>
              <a:schemeClr val="tx2">
                <a:lumMod val="75000"/>
                <a:lumOff val="25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CBF66C56-1CE1-213D-81A9-74A50D89DCBB}"/>
                </a:ext>
              </a:extLst>
            </p:cNvPr>
            <p:cNvSpPr/>
            <p:nvPr/>
          </p:nvSpPr>
          <p:spPr>
            <a:xfrm>
              <a:off x="2493489" y="1464212"/>
              <a:ext cx="167368" cy="167368"/>
            </a:xfrm>
            <a:prstGeom prst="ellipse">
              <a:avLst/>
            </a:prstGeom>
            <a:solidFill>
              <a:schemeClr val="tx2">
                <a:lumMod val="75000"/>
                <a:lumOff val="25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73393F48-C8DB-ADB0-FC74-F6E7AD2B1FC9}"/>
                </a:ext>
              </a:extLst>
            </p:cNvPr>
            <p:cNvSpPr/>
            <p:nvPr/>
          </p:nvSpPr>
          <p:spPr>
            <a:xfrm>
              <a:off x="2798038" y="3115027"/>
              <a:ext cx="167368" cy="167368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5936D7FB-87C5-03EB-C712-1D57F574AC2D}"/>
                </a:ext>
              </a:extLst>
            </p:cNvPr>
            <p:cNvSpPr/>
            <p:nvPr/>
          </p:nvSpPr>
          <p:spPr>
            <a:xfrm>
              <a:off x="2524149" y="5026586"/>
              <a:ext cx="167368" cy="167368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AE5283AE-99DA-701F-9BB5-16EDCEBC2909}"/>
                </a:ext>
              </a:extLst>
            </p:cNvPr>
            <p:cNvSpPr/>
            <p:nvPr/>
          </p:nvSpPr>
          <p:spPr>
            <a:xfrm>
              <a:off x="7707389" y="1493541"/>
              <a:ext cx="167368" cy="167368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0FA33F3-39F2-3684-22D5-59C07726DCD2}"/>
                </a:ext>
              </a:extLst>
            </p:cNvPr>
            <p:cNvSpPr/>
            <p:nvPr/>
          </p:nvSpPr>
          <p:spPr>
            <a:xfrm>
              <a:off x="9728695" y="3370269"/>
              <a:ext cx="167368" cy="167368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5497015-D71D-1214-6CB3-2E940F74FCD7}"/>
                </a:ext>
              </a:extLst>
            </p:cNvPr>
            <p:cNvSpPr txBox="1"/>
            <p:nvPr/>
          </p:nvSpPr>
          <p:spPr>
            <a:xfrm>
              <a:off x="-95251" y="-229505"/>
              <a:ext cx="67926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b="1" i="1" dirty="0">
                  <a:solidFill>
                    <a:srgbClr val="002060"/>
                  </a:solidFill>
                </a:rPr>
                <a:t>20251204 Elsevier </a:t>
              </a:r>
              <a:r>
                <a:rPr lang="ko-KR" altLang="en-US" sz="2400" b="1" i="1" dirty="0">
                  <a:solidFill>
                    <a:srgbClr val="002060"/>
                  </a:solidFill>
                </a:rPr>
                <a:t>열분해 논문 캡션 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562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1">
      <a:majorFont>
        <a:latin typeface="Microsoft GothicNeo"/>
        <a:ea typeface="Microsoft GothicNeo"/>
        <a:cs typeface=""/>
      </a:majorFont>
      <a:minorFont>
        <a:latin typeface="Microsoft GothicNeo Light"/>
        <a:ea typeface="Microsoft GothicNeo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337</Words>
  <Application>Microsoft Office PowerPoint</Application>
  <PresentationFormat>와이드스크린</PresentationFormat>
  <Paragraphs>51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0" baseType="lpstr">
      <vt:lpstr>Microsoft GothicNeo</vt:lpstr>
      <vt:lpstr>Microsoft GothicNeo Light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안용상</dc:creator>
  <cp:lastModifiedBy>안용상</cp:lastModifiedBy>
  <cp:revision>4</cp:revision>
  <dcterms:created xsi:type="dcterms:W3CDTF">2025-12-04T07:08:31Z</dcterms:created>
  <dcterms:modified xsi:type="dcterms:W3CDTF">2025-12-04T13:54:11Z</dcterms:modified>
</cp:coreProperties>
</file>